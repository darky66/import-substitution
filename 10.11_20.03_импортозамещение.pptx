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4E374C-BE5B-4125-B63B-6EB3CE9B942D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9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CF861E-6A31-4042-8C12-D4AAF329BEEC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838AF1-5EC5-4E88-8144-A9F9C0398C11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DE4FD-D851-48DB-B991-C2A2B7E8BBE2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F5F71C-1BD4-466C-8E98-BD8CEBE51C35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AC6C4-208E-438F-AFDC-9DE264C13CC0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304CF8-DD9A-4DC1-98ED-A4A5B9A86FCA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558C15-7A2B-4F8E-A522-0665418D7561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918D14-6CA5-42AA-8D30-13CC1E0FC7BA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78BC05-8C3D-4FDE-87F4-8E9BEFFDDC87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0E380E-E3C2-415A-84B1-A7C3B68C25DD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00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Сайт для поиска отечественной альтернативы иностранному программному обеспечению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Авторы: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Елисеенков Владимир, Щербин Михаил, Торубаров Данила</a:t>
            </a:r>
            <a:br>
              <a:rPr sz="2400"/>
            </a:b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10 класс, ГБОУ инженерная школа №1581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Работа и ее актуальность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 условиях глобальной цифровой трансформации и импортозамещения потребность в информации о российском программном обеспечении крайне высока.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Существующие решения часто представляют собой просто списки или реестры без удобного инструмента для поиска и сравнения, что затрудняет выбор для бизнеса и частных пользователей.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Наш проект заключается в создании удобного, структурированного сайта-навигатора, который позволяет быстро найти полный и проверенный аналог нужного иностранного программного продукта.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Цель и задачи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Цель:</a:t>
            </a: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 Создать полезный и информативный ресурс, упрощающий переход на российское программное обеспечение.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Задачи: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Изучить рынок российского ПО и собрать достоверную базу данных аналогов.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Разработать удобный и современный дизайн интерфейса сайта (UI/UX).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Создать адаптивную фронтенд-часть сайта (вёрстку).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Реализовать бэкенд с системой поиска, фильтрации и админ-панелью для управления контентом.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Интегрировать все компоненты, протестировать и запустить проект.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04600" y="802800"/>
            <a:ext cx="4766040" cy="14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trike="noStrike" u="none">
                <a:solidFill>
                  <a:schemeClr val="dk2"/>
                </a:solidFill>
                <a:effectLst/>
                <a:uFillTx/>
                <a:latin typeface="Aptos Display"/>
              </a:rPr>
              <a:t>Структура сайта</a:t>
            </a:r>
            <a:endParaRPr b="0" lang="ru-RU" sz="3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04600" y="2421720"/>
            <a:ext cx="4765680" cy="335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1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Главная страница:</a:t>
            </a:r>
            <a:r>
              <a:rPr b="0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 Поисковая строка, категории, список популярных замен.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1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Страница результатов поиска:</a:t>
            </a:r>
            <a:r>
              <a:rPr b="0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 Список аналогов c описанием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1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Карточка ПО:</a:t>
            </a:r>
            <a:r>
              <a:rPr b="0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 Детальное описание российского аналога, ссылки на официальный сайт.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1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Административный раздел:</a:t>
            </a:r>
            <a:r>
              <a:rPr b="0" lang="en-US" sz="17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 Панель для управления контентом (добавление, редактирование, удаление).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68" name="Group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18320" y="-16560"/>
            <a:ext cx="6373440" cy="6874200"/>
            <a:chOff x="5818320" y="-16560"/>
            <a:chExt cx="6373440" cy="6874200"/>
          </a:xfrm>
        </p:grpSpPr>
        <p:sp>
          <p:nvSpPr>
            <p:cNvPr id="69" name="Freeform: Shap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18320" y="-16560"/>
              <a:ext cx="6373440" cy="6874200"/>
            </a:xfrm>
            <a:custGeom>
              <a:avLst/>
              <a:gdLst>
                <a:gd name="textAreaLeft" fmla="*/ 0 w 6373440"/>
                <a:gd name="textAreaRight" fmla="*/ 6373800 w 6373440"/>
                <a:gd name="textAreaTop" fmla="*/ 0 h 6874200"/>
                <a:gd name="textAreaBottom" fmla="*/ 6874560 h 6874200"/>
                <a:gd name="GluePoint1X" fmla="*/ 6373761 w 6373761"/>
                <a:gd name="GluePoint1Y" fmla="*/ 5771297 h 6874714"/>
                <a:gd name="GluePoint2X" fmla="*/ 6373761 w 6373761"/>
                <a:gd name="GluePoint2Y" fmla="*/ 6247960 h 6874714"/>
                <a:gd name="GluePoint3X" fmla="*/ 6235932 w 6373761"/>
                <a:gd name="GluePoint3Y" fmla="*/ 6361930 h 6874714"/>
                <a:gd name="GluePoint4X" fmla="*/ 5960375 w 6373761"/>
                <a:gd name="GluePoint4Y" fmla="*/ 6587489 h 6874714"/>
                <a:gd name="GluePoint5X" fmla="*/ 5822907 w 6373761"/>
                <a:gd name="GluePoint5Y" fmla="*/ 6701871 h 6874714"/>
                <a:gd name="GluePoint6X" fmla="*/ 5681115 w 6373761"/>
                <a:gd name="GluePoint6Y" fmla="*/ 6816896 h 6874714"/>
                <a:gd name="GluePoint7X" fmla="*/ 5604096 w 6373761"/>
                <a:gd name="GluePoint7Y" fmla="*/ 6874714 h 6874714"/>
                <a:gd name="GluePoint8X" fmla="*/ 4878485 w 6373761"/>
                <a:gd name="GluePoint8Y" fmla="*/ 6874714 h 6874714"/>
                <a:gd name="GluePoint9X" fmla="*/ 5006014 w 6373761"/>
                <a:gd name="GluePoint9Y" fmla="*/ 6800200 h 6874714"/>
                <a:gd name="GluePoint10X" fmla="*/ 5149855 w 6373761"/>
                <a:gd name="GluePoint10Y" fmla="*/ 6707667 h 6874714"/>
                <a:gd name="GluePoint11X" fmla="*/ 5431866 w 6373761"/>
                <a:gd name="GluePoint11Y" fmla="*/ 6506210 h 6874714"/>
                <a:gd name="GluePoint12X" fmla="*/ 5571036 w 6373761"/>
                <a:gd name="GluePoint12Y" fmla="*/ 6399557 h 6874714"/>
                <a:gd name="GluePoint13X" fmla="*/ 5711649 w 6373761"/>
                <a:gd name="GluePoint13Y" fmla="*/ 6288912 h 6874714"/>
                <a:gd name="GluePoint14X" fmla="*/ 6276589 w 6373761"/>
                <a:gd name="GluePoint14Y" fmla="*/ 5852379 h 6874714"/>
                <a:gd name="GluePoint15X" fmla="*/ 3975975 w 6373761"/>
                <a:gd name="GluePoint15Y" fmla="*/ 263 h 6874714"/>
                <a:gd name="GluePoint16X" fmla="*/ 4350473 w 6373761"/>
                <a:gd name="GluePoint16Y" fmla="*/ 24963 h 6874714"/>
                <a:gd name="GluePoint17X" fmla="*/ 5077909 w 6373761"/>
                <a:gd name="GluePoint17Y" fmla="*/ 189450 h 6874714"/>
                <a:gd name="GluePoint18X" fmla="*/ 5746507 w 6373761"/>
                <a:gd name="GluePoint18Y" fmla="*/ 505804 h 6874714"/>
                <a:gd name="GluePoint19X" fmla="*/ 6322456 w 6373761"/>
                <a:gd name="GluePoint19Y" fmla="*/ 956633 h 6874714"/>
                <a:gd name="GluePoint20X" fmla="*/ 6373761 w 6373761"/>
                <a:gd name="GluePoint20Y" fmla="*/ 1011863 h 6874714"/>
                <a:gd name="GluePoint21X" fmla="*/ 6373761 w 6373761"/>
                <a:gd name="GluePoint21Y" fmla="*/ 1185075 h 6874714"/>
                <a:gd name="GluePoint22X" fmla="*/ 6359489 w 6373761"/>
                <a:gd name="GluePoint22Y" fmla="*/ 1169497 h 6874714"/>
                <a:gd name="GluePoint23X" fmla="*/ 6233869 w 6373761"/>
                <a:gd name="GluePoint23Y" fmla="*/ 1047442 h 6874714"/>
                <a:gd name="GluePoint24X" fmla="*/ 5961423 w 6373761"/>
                <a:gd name="GluePoint24Y" fmla="*/ 827953 h 6874714"/>
                <a:gd name="GluePoint25X" fmla="*/ 5663555 w 6373761"/>
                <a:gd name="GluePoint25Y" fmla="*/ 645304 h 6874714"/>
                <a:gd name="GluePoint26X" fmla="*/ 5013827 w 6373761"/>
                <a:gd name="GluePoint26Y" fmla="*/ 397863 h 6874714"/>
                <a:gd name="GluePoint27X" fmla="*/ 4327409 w 6373761"/>
                <a:gd name="GluePoint27Y" fmla="*/ 302545 h 6874714"/>
                <a:gd name="GluePoint28X" fmla="*/ 3639939 w 6373761"/>
                <a:gd name="GluePoint28Y" fmla="*/ 338868 h 6874714"/>
                <a:gd name="GluePoint29X" fmla="*/ 3302495 w 6373761"/>
                <a:gd name="GluePoint29Y" fmla="*/ 403659 h 6874714"/>
                <a:gd name="GluePoint30X" fmla="*/ 2971604 w 6373761"/>
                <a:gd name="GluePoint30Y" fmla="*/ 496273 h 6874714"/>
                <a:gd name="GluePoint31X" fmla="*/ 2648706 w 6373761"/>
                <a:gd name="GluePoint31Y" fmla="*/ 614389 h 6874714"/>
                <a:gd name="GluePoint32X" fmla="*/ 2335374 w 6373761"/>
                <a:gd name="GluePoint32Y" fmla="*/ 757109 h 6874714"/>
                <a:gd name="GluePoint33X" fmla="*/ 1741342 w 6373761"/>
                <a:gd name="GluePoint33Y" fmla="*/ 1107725 h 6874714"/>
                <a:gd name="GluePoint34X" fmla="*/ 1600861 w 6373761"/>
                <a:gd name="GluePoint34Y" fmla="*/ 1208710 h 6874714"/>
                <a:gd name="GluePoint35X" fmla="*/ 1531799 w 6373761"/>
                <a:gd name="GluePoint35Y" fmla="*/ 1260879 h 6874714"/>
                <a:gd name="GluePoint36X" fmla="*/ 1463655 w 6373761"/>
                <a:gd name="GluePoint36Y" fmla="*/ 1314333 h 6874714"/>
                <a:gd name="GluePoint37X" fmla="*/ 1200777 w 6373761"/>
                <a:gd name="GluePoint37Y" fmla="*/ 1541166 h 6874714"/>
                <a:gd name="GluePoint38X" fmla="*/ 731501 w 6373761"/>
                <a:gd name="GluePoint38Y" fmla="*/ 2055754 h 6874714"/>
                <a:gd name="GluePoint39X" fmla="*/ 531393 w 6373761"/>
                <a:gd name="GluePoint39Y" fmla="*/ 2342739 h 6874714"/>
                <a:gd name="GluePoint40X" fmla="*/ 361033 w 6373761"/>
                <a:gd name="GluePoint40Y" fmla="*/ 2649046 h 6874714"/>
                <a:gd name="GluePoint41X" fmla="*/ 323292 w 6373761"/>
                <a:gd name="GluePoint41Y" fmla="*/ 2728263 h 6874714"/>
                <a:gd name="GluePoint42X" fmla="*/ 304945 w 6373761"/>
                <a:gd name="GluePoint42Y" fmla="*/ 2768193 h 6874714"/>
                <a:gd name="GluePoint43X" fmla="*/ 287516 w 6373761"/>
                <a:gd name="GluePoint43Y" fmla="*/ 2808510 h 6874714"/>
                <a:gd name="GluePoint44X" fmla="*/ 254230 w 6373761"/>
                <a:gd name="GluePoint44Y" fmla="*/ 2889788 h 6874714"/>
                <a:gd name="GluePoint45X" fmla="*/ 223042 w 6373761"/>
                <a:gd name="GluePoint45Y" fmla="*/ 2971968 h 6874714"/>
                <a:gd name="GluePoint46X" fmla="*/ 121611 w 6373761"/>
                <a:gd name="GluePoint46Y" fmla="*/ 3308544 h 6874714"/>
                <a:gd name="GluePoint47X" fmla="*/ 39314 w 6373761"/>
                <a:gd name="GluePoint47Y" fmla="*/ 4005912 h 6874714"/>
                <a:gd name="GluePoint48X" fmla="*/ 73910 w 6373761"/>
                <a:gd name="GluePoint48Y" fmla="*/ 4354081 h 6874714"/>
                <a:gd name="GluePoint49X" fmla="*/ 179534 w 6373761"/>
                <a:gd name="GluePoint49Y" fmla="*/ 4687050 h 6874714"/>
                <a:gd name="GluePoint50X" fmla="*/ 215964 w 6373761"/>
                <a:gd name="GluePoint50Y" fmla="*/ 4766654 h 6874714"/>
                <a:gd name="GluePoint51X" fmla="*/ 256457 w 6373761"/>
                <a:gd name="GluePoint51Y" fmla="*/ 4844455 h 6874714"/>
                <a:gd name="GluePoint52X" fmla="*/ 346225 w 6373761"/>
                <a:gd name="GluePoint52Y" fmla="*/ 4995290 h 6874714"/>
                <a:gd name="GluePoint53X" fmla="*/ 445296 w 6373761"/>
                <a:gd name="GluePoint53Y" fmla="*/ 5140971 h 6874714"/>
                <a:gd name="GluePoint54X" fmla="*/ 551443 w 6373761"/>
                <a:gd name="GluePoint54Y" fmla="*/ 5282531 h 6874714"/>
                <a:gd name="GluePoint55X" fmla="*/ 772387 w 6373761"/>
                <a:gd name="GluePoint55Y" fmla="*/ 5562561 h 6874714"/>
                <a:gd name="GluePoint56X" fmla="*/ 882858 w 6373761"/>
                <a:gd name="GluePoint56Y" fmla="*/ 5704507 h 6874714"/>
                <a:gd name="GluePoint57X" fmla="*/ 990316 w 6373761"/>
                <a:gd name="GluePoint57Y" fmla="*/ 5848258 h 6874714"/>
                <a:gd name="GluePoint58X" fmla="*/ 1097774 w 6373761"/>
                <a:gd name="GluePoint58Y" fmla="*/ 5987114 h 6874714"/>
                <a:gd name="GluePoint59X" fmla="*/ 1210080 w 6373761"/>
                <a:gd name="GluePoint59Y" fmla="*/ 6121203 h 6874714"/>
                <a:gd name="GluePoint60X" fmla="*/ 1448192 w 6373761"/>
                <a:gd name="GluePoint60Y" fmla="*/ 6374054 h 6874714"/>
                <a:gd name="GluePoint61X" fmla="*/ 1982991 w 6373761"/>
                <a:gd name="GluePoint61Y" fmla="*/ 6796158 h 6874714"/>
                <a:gd name="GluePoint62X" fmla="*/ 2118475 w 6373761"/>
                <a:gd name="GluePoint62Y" fmla="*/ 6874714 h 6874714"/>
                <a:gd name="GluePoint63X" fmla="*/ 1569874 w 6373761"/>
                <a:gd name="GluePoint63Y" fmla="*/ 6874714 h 6874714"/>
                <a:gd name="GluePoint64X" fmla="*/ 1507802 w 6373761"/>
                <a:gd name="GluePoint64Y" fmla="*/ 6817815 h 6874714"/>
                <a:gd name="GluePoint65X" fmla="*/ 1256865 w 6373761"/>
                <a:gd name="GluePoint65Y" fmla="*/ 6543437 h 6874714"/>
                <a:gd name="GluePoint66X" fmla="*/ 1038410 w 6373761"/>
                <a:gd name="GluePoint66Y" fmla="*/ 6248722 h 6874714"/>
                <a:gd name="GluePoint67X" fmla="*/ 845380 w 6373761"/>
                <a:gd name="GluePoint67Y" fmla="*/ 5941386 h 6874714"/>
                <a:gd name="GluePoint68X" fmla="*/ 755351 w 6373761"/>
                <a:gd name="GluePoint68Y" fmla="*/ 5788877 h 6874714"/>
                <a:gd name="GluePoint69X" fmla="*/ 661784 w 6373761"/>
                <a:gd name="GluePoint69Y" fmla="*/ 5638944 h 6874714"/>
                <a:gd name="GluePoint70X" fmla="*/ 466525 w 6373761"/>
                <a:gd name="GluePoint70Y" fmla="*/ 5340366 h 6874714"/>
                <a:gd name="GluePoint71X" fmla="*/ 370992 w 6373761"/>
                <a:gd name="GluePoint71Y" fmla="*/ 5188502 h 6874714"/>
                <a:gd name="GluePoint72X" fmla="*/ 280046 w 6373761"/>
                <a:gd name="GluePoint72Y" fmla="*/ 5033287 h 6874714"/>
                <a:gd name="GluePoint73X" fmla="*/ 126853 w 6373761"/>
                <a:gd name="GluePoint73Y" fmla="*/ 4707660 h 6874714"/>
                <a:gd name="GluePoint74X" fmla="*/ 30272 w 6373761"/>
                <a:gd name="GluePoint74Y" fmla="*/ 4362068 h 6874714"/>
                <a:gd name="GluePoint75X" fmla="*/ 0 w 6373761"/>
                <a:gd name="GluePoint75Y" fmla="*/ 4005912 h 6874714"/>
                <a:gd name="GluePoint76X" fmla="*/ 270480 w 6373761"/>
                <a:gd name="GluePoint76Y" fmla="*/ 2610532 h 6874714"/>
                <a:gd name="GluePoint77X" fmla="*/ 415942 w 6373761"/>
                <a:gd name="GluePoint77Y" fmla="*/ 2280526 h 6874714"/>
                <a:gd name="GluePoint78X" fmla="*/ 590102 w 6373761"/>
                <a:gd name="GluePoint78Y" fmla="*/ 1962626 h 6874714"/>
                <a:gd name="GluePoint79X" fmla="*/ 1020719 w 6373761"/>
                <a:gd name="GluePoint79Y" fmla="*/ 1373070 h 6874714"/>
                <a:gd name="GluePoint80X" fmla="*/ 1275080 w 6373761"/>
                <a:gd name="GluePoint80Y" fmla="*/ 1107081 h 6874714"/>
                <a:gd name="GluePoint81X" fmla="*/ 1342437 w 6373761"/>
                <a:gd name="GluePoint81Y" fmla="*/ 1043965 h 6874714"/>
                <a:gd name="GluePoint82X" fmla="*/ 1411106 w 6373761"/>
                <a:gd name="GluePoint82Y" fmla="*/ 982138 h 6874714"/>
                <a:gd name="GluePoint83X" fmla="*/ 1553029 w 6373761"/>
                <a:gd name="GluePoint83Y" fmla="*/ 863376 h 6874714"/>
                <a:gd name="GluePoint84X" fmla="*/ 2173401 w 6373761"/>
                <a:gd name="GluePoint84Y" fmla="*/ 454409 h 6874714"/>
                <a:gd name="GluePoint85X" fmla="*/ 3599708 w 6373761"/>
                <a:gd name="GluePoint85Y" fmla="*/ 16332 h 6874714"/>
                <a:gd name="GluePoint86X" fmla="*/ 3975975 w 6373761"/>
                <a:gd name="GluePoint86Y" fmla="*/ 263 h 68747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</a:cxnLst>
              <a:rect l="textAreaLeft" t="textAreaTop" r="textAreaRight" b="textAreaBottom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0" name="Freeform: Shap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65120" y="296640"/>
              <a:ext cx="6326280" cy="6561000"/>
            </a:xfrm>
            <a:custGeom>
              <a:avLst/>
              <a:gdLst>
                <a:gd name="textAreaLeft" fmla="*/ 0 w 6326280"/>
                <a:gd name="textAreaRight" fmla="*/ 6326640 w 6326280"/>
                <a:gd name="textAreaTop" fmla="*/ 0 h 6561000"/>
                <a:gd name="textAreaBottom" fmla="*/ 6561360 h 6561000"/>
                <a:gd name="GluePoint1X" fmla="*/ 6326724 w 6326724"/>
                <a:gd name="GluePoint1Y" fmla="*/ 5020808 h 6561326"/>
                <a:gd name="GluePoint2X" fmla="*/ 6326724 w 6326724"/>
                <a:gd name="GluePoint2Y" fmla="*/ 5698632 h 6561326"/>
                <a:gd name="GluePoint3X" fmla="*/ 6067438 w 6326724"/>
                <a:gd name="GluePoint3Y" fmla="*/ 5902509 h 6561326"/>
                <a:gd name="GluePoint4X" fmla="*/ 5799974 w 6326724"/>
                <a:gd name="GluePoint4Y" fmla="*/ 6102017 h 6561326"/>
                <a:gd name="GluePoint5X" fmla="*/ 5665258 w 6326724"/>
                <a:gd name="GluePoint5Y" fmla="*/ 6202100 h 6561326"/>
                <a:gd name="GluePoint6X" fmla="*/ 5526873 w 6326724"/>
                <a:gd name="GluePoint6Y" fmla="*/ 6302828 h 6561326"/>
                <a:gd name="GluePoint7X" fmla="*/ 5385080 w 6326724"/>
                <a:gd name="GluePoint7Y" fmla="*/ 6402268 h 6561326"/>
                <a:gd name="GluePoint8X" fmla="*/ 5238833 w 6326724"/>
                <a:gd name="GluePoint8Y" fmla="*/ 6498875 h 6561326"/>
                <a:gd name="GluePoint9X" fmla="*/ 5138040 w 6326724"/>
                <a:gd name="GluePoint9Y" fmla="*/ 6561326 h 6561326"/>
                <a:gd name="GluePoint10X" fmla="*/ 3946072 w 6326724"/>
                <a:gd name="GluePoint10Y" fmla="*/ 6561326 h 6561326"/>
                <a:gd name="GluePoint11X" fmla="*/ 3976009 w 6326724"/>
                <a:gd name="GluePoint11Y" fmla="*/ 6555242 h 6561326"/>
                <a:gd name="GluePoint12X" fmla="*/ 4404855 w 6326724"/>
                <a:gd name="GluePoint12Y" fmla="*/ 6399048 h 6561326"/>
                <a:gd name="GluePoint13X" fmla="*/ 4938868 w 6326724"/>
                <a:gd name="GluePoint13Y" fmla="*/ 6072132 h 6561326"/>
                <a:gd name="GluePoint14X" fmla="*/ 5068342 w 6326724"/>
                <a:gd name="GluePoint14Y" fmla="*/ 5976042 h 6561326"/>
                <a:gd name="GluePoint15X" fmla="*/ 5197816 w 6326724"/>
                <a:gd name="GluePoint15Y" fmla="*/ 5876730 h 6561326"/>
                <a:gd name="GluePoint16X" fmla="*/ 5460039 w 6326724"/>
                <a:gd name="GluePoint16Y" fmla="*/ 5670637 h 6561326"/>
                <a:gd name="GluePoint17X" fmla="*/ 5999033 w 6326724"/>
                <a:gd name="GluePoint17Y" fmla="*/ 5271718 h 6561326"/>
                <a:gd name="GluePoint18X" fmla="*/ 6258766 w 6326724"/>
                <a:gd name="GluePoint18Y" fmla="*/ 5077603 h 6561326"/>
                <a:gd name="GluePoint19X" fmla="*/ 4139342 w 6326724"/>
                <a:gd name="GluePoint19Y" fmla="*/ 440 h 6561326"/>
                <a:gd name="GluePoint20X" fmla="*/ 4315744 w 6326724"/>
                <a:gd name="GluePoint20Y" fmla="*/ 6808 h 6561326"/>
                <a:gd name="GluePoint21X" fmla="*/ 5015400 w 6326724"/>
                <a:gd name="GluePoint21Y" fmla="*/ 113591 h 6561326"/>
                <a:gd name="GluePoint22X" fmla="*/ 5681114 w 6326724"/>
                <a:gd name="GluePoint22Y" fmla="*/ 361418 h 6561326"/>
                <a:gd name="GluePoint23X" fmla="*/ 6270952 w 6326724"/>
                <a:gd name="GluePoint23Y" fmla="*/ 755441 h 6561326"/>
                <a:gd name="GluePoint24X" fmla="*/ 6326724 w 6326724"/>
                <a:gd name="GluePoint24Y" fmla="*/ 807432 h 6561326"/>
                <a:gd name="GluePoint25X" fmla="*/ 6326724 w 6326724"/>
                <a:gd name="GluePoint25Y" fmla="*/ 1231565 h 6561326"/>
                <a:gd name="GluePoint26X" fmla="*/ 6302093 w 6326724"/>
                <a:gd name="GluePoint26Y" fmla="*/ 1203002 h 6561326"/>
                <a:gd name="GluePoint27X" fmla="*/ 6066914 w 6326724"/>
                <a:gd name="GluePoint27Y" fmla="*/ 989616 h 6561326"/>
                <a:gd name="GluePoint28X" fmla="*/ 5533688 w 6326724"/>
                <a:gd name="GluePoint28Y" fmla="*/ 647242 h 6561326"/>
                <a:gd name="GluePoint29X" fmla="*/ 4933626 w 6326724"/>
                <a:gd name="GluePoint29Y" fmla="*/ 432262 h 6561326"/>
                <a:gd name="GluePoint30X" fmla="*/ 4296873 w 6326724"/>
                <a:gd name="GluePoint30Y" fmla="*/ 343126 h 6561326"/>
                <a:gd name="GluePoint31X" fmla="*/ 3651602 w 6326724"/>
                <a:gd name="GluePoint31Y" fmla="*/ 365797 h 6561326"/>
                <a:gd name="GluePoint32X" fmla="*/ 3018256 w 6326724"/>
                <a:gd name="GluePoint32Y" fmla="*/ 496666 h 6561326"/>
                <a:gd name="GluePoint33X" fmla="*/ 2412429 w 6326724"/>
                <a:gd name="GluePoint33Y" fmla="*/ 724399 h 6561326"/>
                <a:gd name="GluePoint34X" fmla="*/ 1329857 w 6326724"/>
                <a:gd name="GluePoint34Y" fmla="*/ 1424086 h 6561326"/>
                <a:gd name="GluePoint35X" fmla="*/ 887314 w 6326724"/>
                <a:gd name="GluePoint35Y" fmla="*/ 1891015 h 6561326"/>
                <a:gd name="GluePoint36X" fmla="*/ 537420 w 6326724"/>
                <a:gd name="GluePoint36Y" fmla="*/ 2427245 h 6561326"/>
                <a:gd name="GluePoint37X" fmla="*/ 299965 w 6326724"/>
                <a:gd name="GluePoint37Y" fmla="*/ 3020021 h 6561326"/>
                <a:gd name="GluePoint38X" fmla="*/ 213606 w 6326724"/>
                <a:gd name="GluePoint38Y" fmla="*/ 3651953 h 6561326"/>
                <a:gd name="GluePoint39X" fmla="*/ 250036 w 6326724"/>
                <a:gd name="GluePoint39Y" fmla="*/ 3961352 h 6561326"/>
                <a:gd name="GluePoint40X" fmla="*/ 357625 w 6326724"/>
                <a:gd name="GluePoint40Y" fmla="*/ 4250783 h 6561326"/>
                <a:gd name="GluePoint41X" fmla="*/ 432715 w 6326724"/>
                <a:gd name="GluePoint41Y" fmla="*/ 4387063 h 6561326"/>
                <a:gd name="GluePoint42X" fmla="*/ 518943 w 6326724"/>
                <a:gd name="GluePoint42Y" fmla="*/ 4518962 h 6561326"/>
                <a:gd name="GluePoint43X" fmla="*/ 718133 w 6326724"/>
                <a:gd name="GluePoint43Y" fmla="*/ 4773874 h 6561326"/>
                <a:gd name="GluePoint44X" fmla="*/ 933704 w 6326724"/>
                <a:gd name="GluePoint44Y" fmla="*/ 5030717 h 6561326"/>
                <a:gd name="GluePoint45X" fmla="*/ 1040900 w 6326724"/>
                <a:gd name="GluePoint45Y" fmla="*/ 5164806 h 6561326"/>
                <a:gd name="GluePoint46X" fmla="*/ 1092401 w 6326724"/>
                <a:gd name="GluePoint46Y" fmla="*/ 5230628 h 6561326"/>
                <a:gd name="GluePoint47X" fmla="*/ 1142854 w 6326724"/>
                <a:gd name="GluePoint47Y" fmla="*/ 5293615 h 6561326"/>
                <a:gd name="GluePoint48X" fmla="*/ 1576354 w 6326724"/>
                <a:gd name="GluePoint48Y" fmla="*/ 5759128 h 6561326"/>
                <a:gd name="GluePoint49X" fmla="*/ 1806865 w 6326724"/>
                <a:gd name="GluePoint49Y" fmla="*/ 5968571 h 6561326"/>
                <a:gd name="GluePoint50X" fmla="*/ 2048253 w 6326724"/>
                <a:gd name="GluePoint50Y" fmla="*/ 6161654 h 6561326"/>
                <a:gd name="GluePoint51X" fmla="*/ 2587506 w 6326724"/>
                <a:gd name="GluePoint51Y" fmla="*/ 6467059 h 6561326"/>
                <a:gd name="GluePoint52X" fmla="*/ 2889176 w 6326724"/>
                <a:gd name="GluePoint52Y" fmla="*/ 6553360 h 6561326"/>
                <a:gd name="GluePoint53X" fmla="*/ 2929698 w 6326724"/>
                <a:gd name="GluePoint53Y" fmla="*/ 6561326 h 6561326"/>
                <a:gd name="GluePoint54X" fmla="*/ 1816374 w 6326724"/>
                <a:gd name="GluePoint54Y" fmla="*/ 6561326 h 6561326"/>
                <a:gd name="GluePoint55X" fmla="*/ 1787601 w 6326724"/>
                <a:gd name="GluePoint55Y" fmla="*/ 6545761 h 6561326"/>
                <a:gd name="GluePoint56X" fmla="*/ 1225544 w 6326724"/>
                <a:gd name="GluePoint56Y" fmla="*/ 6094158 h 6561326"/>
                <a:gd name="GluePoint57X" fmla="*/ 997654 w 6326724"/>
                <a:gd name="GluePoint57Y" fmla="*/ 5822374 h 6561326"/>
                <a:gd name="GluePoint58X" fmla="*/ 798596 w 6326724"/>
                <a:gd name="GluePoint58Y" fmla="*/ 5534615 h 6561326"/>
                <a:gd name="GluePoint59X" fmla="*/ 752075 w 6326724"/>
                <a:gd name="GluePoint59Y" fmla="*/ 5461324 h 6561326"/>
                <a:gd name="GluePoint60X" fmla="*/ 707650 w 6326724"/>
                <a:gd name="GluePoint60Y" fmla="*/ 5390221 h 6561326"/>
                <a:gd name="GluePoint61X" fmla="*/ 619980 w 6326724"/>
                <a:gd name="GluePoint61Y" fmla="*/ 5252396 h 6561326"/>
                <a:gd name="GluePoint62X" fmla="*/ 438349 w 6326724"/>
                <a:gd name="GluePoint62Y" fmla="*/ 4970822 h 6561326"/>
                <a:gd name="GluePoint63X" fmla="*/ 261044 w 6326724"/>
                <a:gd name="GluePoint63Y" fmla="*/ 4673145 h 6561326"/>
                <a:gd name="GluePoint64X" fmla="*/ 181107 w 6326724"/>
                <a:gd name="GluePoint64Y" fmla="*/ 4515356 h 6561326"/>
                <a:gd name="GluePoint65X" fmla="*/ 113224 w 6326724"/>
                <a:gd name="GluePoint65Y" fmla="*/ 4350223 h 6561326"/>
                <a:gd name="GluePoint66X" fmla="*/ 61199 w 6326724"/>
                <a:gd name="GluePoint66Y" fmla="*/ 4178908 h 6561326"/>
                <a:gd name="GluePoint67X" fmla="*/ 41804 w 6326724"/>
                <a:gd name="GluePoint67Y" fmla="*/ 4091577 h 6561326"/>
                <a:gd name="GluePoint68X" fmla="*/ 33287 w 6326724"/>
                <a:gd name="GluePoint68Y" fmla="*/ 4047781 h 6561326"/>
                <a:gd name="GluePoint69X" fmla="*/ 26209 w 6326724"/>
                <a:gd name="GluePoint69Y" fmla="*/ 4003858 h 6561326"/>
                <a:gd name="GluePoint70X" fmla="*/ 0 w 6326724"/>
                <a:gd name="GluePoint70Y" fmla="*/ 3651953 h 6561326"/>
                <a:gd name="GluePoint71X" fmla="*/ 72731 w 6326724"/>
                <a:gd name="GluePoint71Y" fmla="*/ 2966307 h 6561326"/>
                <a:gd name="GluePoint72X" fmla="*/ 291316 w 6326724"/>
                <a:gd name="GluePoint72Y" fmla="*/ 2309385 h 6561326"/>
                <a:gd name="GluePoint73X" fmla="*/ 1110878 w 6326724"/>
                <a:gd name="GluePoint73Y" fmla="*/ 1193776 h 6561326"/>
                <a:gd name="GluePoint74X" fmla="*/ 1654327 w 6326724"/>
                <a:gd name="GluePoint74Y" fmla="*/ 756730 h 6561326"/>
                <a:gd name="GluePoint75X" fmla="*/ 2261727 w 6326724"/>
                <a:gd name="GluePoint75Y" fmla="*/ 409720 h 6561326"/>
                <a:gd name="GluePoint76X" fmla="*/ 3610060 w 6326724"/>
                <a:gd name="GluePoint76Y" fmla="*/ 27032 h 6561326"/>
                <a:gd name="GluePoint77X" fmla="*/ 4139342 w 6326724"/>
                <a:gd name="GluePoint77Y" fmla="*/ 440 h 65613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</a:cxnLst>
              <a:rect l="textAreaLeft" t="textAreaTop" r="textAreaRight" b="textAreaBottom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1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70160" y="336240"/>
              <a:ext cx="6321240" cy="6521400"/>
            </a:xfrm>
            <a:custGeom>
              <a:avLst/>
              <a:gdLst>
                <a:gd name="textAreaLeft" fmla="*/ 0 w 6321240"/>
                <a:gd name="textAreaRight" fmla="*/ 6321600 w 6321240"/>
                <a:gd name="textAreaTop" fmla="*/ 0 h 6521400"/>
                <a:gd name="textAreaBottom" fmla="*/ 6521760 h 6521400"/>
                <a:gd name="GluePoint1X" fmla="*/ 4150102 w 6321679"/>
                <a:gd name="GluePoint1Y" fmla="*/ 0 h 6521594"/>
                <a:gd name="GluePoint2X" fmla="*/ 6083891 w 6321679"/>
                <a:gd name="GluePoint2Y" fmla="*/ 619943 h 6521594"/>
                <a:gd name="GluePoint3X" fmla="*/ 6321679 w 6321679"/>
                <a:gd name="GluePoint3Y" fmla="*/ 822247 h 6521594"/>
                <a:gd name="GluePoint4X" fmla="*/ 6321679 w 6321679"/>
                <a:gd name="GluePoint4Y" fmla="*/ 1866928 h 6521594"/>
                <a:gd name="GluePoint5X" fmla="*/ 6212358 w 6321679"/>
                <a:gd name="GluePoint5Y" fmla="*/ 1689281 h 6521594"/>
                <a:gd name="GluePoint6X" fmla="*/ 6049880 w 6321679"/>
                <a:gd name="GluePoint6Y" fmla="*/ 1477173 h 6521594"/>
                <a:gd name="GluePoint7X" fmla="*/ 5248663 w 6321679"/>
                <a:gd name="GluePoint7Y" fmla="*/ 869327 h 6521594"/>
                <a:gd name="GluePoint8X" fmla="*/ 4150102 w 6321679"/>
                <a:gd name="GluePoint8Y" fmla="*/ 644042 h 6521594"/>
                <a:gd name="GluePoint9X" fmla="*/ 2867946 w 6321679"/>
                <a:gd name="GluePoint9Y" fmla="*/ 886459 h 6521594"/>
                <a:gd name="GluePoint10X" fmla="*/ 1728892 w 6321679"/>
                <a:gd name="GluePoint10Y" fmla="*/ 1552397 h 6521594"/>
                <a:gd name="GluePoint11X" fmla="*/ 941043 w 6321679"/>
                <a:gd name="GluePoint11Y" fmla="*/ 2512664 h 6521594"/>
                <a:gd name="GluePoint12X" fmla="*/ 655362 w 6321679"/>
                <a:gd name="GluePoint12Y" fmla="*/ 3630204 h 6521594"/>
                <a:gd name="GluePoint13X" fmla="*/ 1128177 w 6321679"/>
                <a:gd name="GluePoint13Y" fmla="*/ 4667883 h 6521594"/>
                <a:gd name="GluePoint14X" fmla="*/ 1366419 w 6321679"/>
                <a:gd name="GluePoint14Y" fmla="*/ 4997246 h 6521594"/>
                <a:gd name="GluePoint15X" fmla="*/ 3601937 w 6321679"/>
                <a:gd name="GluePoint15Y" fmla="*/ 6284685 h 6521594"/>
                <a:gd name="GluePoint16X" fmla="*/ 5298985 w 6321679"/>
                <a:gd name="GluePoint16Y" fmla="*/ 5492643 h 6521594"/>
                <a:gd name="GluePoint17X" fmla="*/ 5505513 w 6321679"/>
                <a:gd name="GluePoint17Y" fmla="*/ 5335367 h 6521594"/>
                <a:gd name="GluePoint18X" fmla="*/ 6252618 w 6321679"/>
                <a:gd name="GluePoint18Y" fmla="*/ 4722492 h 6521594"/>
                <a:gd name="GluePoint19X" fmla="*/ 6321679 w 6321679"/>
                <a:gd name="GluePoint19Y" fmla="*/ 4651477 h 6521594"/>
                <a:gd name="GluePoint20X" fmla="*/ 6321679 w 6321679"/>
                <a:gd name="GluePoint20Y" fmla="*/ 5523097 h 6521594"/>
                <a:gd name="GluePoint21X" fmla="*/ 6024428 w 6321679"/>
                <a:gd name="GluePoint21Y" fmla="*/ 5754969 h 6521594"/>
                <a:gd name="GluePoint22X" fmla="*/ 5702345 w 6321679"/>
                <a:gd name="GluePoint22Y" fmla="*/ 6000018 h 6521594"/>
                <a:gd name="GluePoint23X" fmla="*/ 4988380 w 6321679"/>
                <a:gd name="GluePoint23Y" fmla="*/ 6506549 h 6521594"/>
                <a:gd name="GluePoint24X" fmla="*/ 4961490 w 6321679"/>
                <a:gd name="GluePoint24Y" fmla="*/ 6521594 h 6521594"/>
                <a:gd name="GluePoint25X" fmla="*/ 2011326 w 6321679"/>
                <a:gd name="GluePoint25Y" fmla="*/ 6521594 h 6521594"/>
                <a:gd name="GluePoint26X" fmla="*/ 1982893 w 6321679"/>
                <a:gd name="GluePoint26Y" fmla="*/ 6505768 h 6521594"/>
                <a:gd name="GluePoint27X" fmla="*/ 824149 w 6321679"/>
                <a:gd name="GluePoint27Y" fmla="*/ 5358682 h 6521594"/>
                <a:gd name="GluePoint28X" fmla="*/ 0 w 6321679"/>
                <a:gd name="GluePoint28Y" fmla="*/ 3630075 h 6521594"/>
                <a:gd name="GluePoint29X" fmla="*/ 4150102 w 6321679"/>
                <a:gd name="GluePoint29Y" fmla="*/ 0 h 65215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2" name="Freeform: Shap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70160" y="336240"/>
              <a:ext cx="6321240" cy="6521400"/>
            </a:xfrm>
            <a:custGeom>
              <a:avLst/>
              <a:gdLst>
                <a:gd name="textAreaLeft" fmla="*/ 0 w 6321240"/>
                <a:gd name="textAreaRight" fmla="*/ 6321600 w 6321240"/>
                <a:gd name="textAreaTop" fmla="*/ 0 h 6521400"/>
                <a:gd name="textAreaBottom" fmla="*/ 6521760 h 6521400"/>
                <a:gd name="GluePoint1X" fmla="*/ 4150102 w 6321679"/>
                <a:gd name="GluePoint1Y" fmla="*/ 0 h 6521594"/>
                <a:gd name="GluePoint2X" fmla="*/ 6083891 w 6321679"/>
                <a:gd name="GluePoint2Y" fmla="*/ 619943 h 6521594"/>
                <a:gd name="GluePoint3X" fmla="*/ 6321679 w 6321679"/>
                <a:gd name="GluePoint3Y" fmla="*/ 822247 h 6521594"/>
                <a:gd name="GluePoint4X" fmla="*/ 6321679 w 6321679"/>
                <a:gd name="GluePoint4Y" fmla="*/ 2150195 h 6521594"/>
                <a:gd name="GluePoint5X" fmla="*/ 6241288 w 6321679"/>
                <a:gd name="GluePoint5Y" fmla="*/ 1985338 h 6521594"/>
                <a:gd name="GluePoint6X" fmla="*/ 5949367 w 6321679"/>
                <a:gd name="GluePoint6Y" fmla="*/ 1559997 h 6521594"/>
                <a:gd name="GluePoint7X" fmla="*/ 5193362 w 6321679"/>
                <a:gd name="GluePoint7Y" fmla="*/ 986156 h 6521594"/>
                <a:gd name="GluePoint8X" fmla="*/ 4150102 w 6321679"/>
                <a:gd name="GluePoint8Y" fmla="*/ 772850 h 6521594"/>
                <a:gd name="GluePoint9X" fmla="*/ 2914861 w 6321679"/>
                <a:gd name="GluePoint9Y" fmla="*/ 1006637 h 6521594"/>
                <a:gd name="GluePoint10X" fmla="*/ 1814073 w 6321679"/>
                <a:gd name="GluePoint10Y" fmla="*/ 1650163 h 6521594"/>
                <a:gd name="GluePoint11X" fmla="*/ 1057412 w 6321679"/>
                <a:gd name="GluePoint11Y" fmla="*/ 2571657 h 6521594"/>
                <a:gd name="GluePoint12X" fmla="*/ 786277 w 6321679"/>
                <a:gd name="GluePoint12Y" fmla="*/ 3630204 h 6521594"/>
                <a:gd name="GluePoint13X" fmla="*/ 1233931 w 6321679"/>
                <a:gd name="GluePoint13Y" fmla="*/ 4592016 h 6521594"/>
                <a:gd name="GluePoint14X" fmla="*/ 1474795 w 6321679"/>
                <a:gd name="GluePoint14Y" fmla="*/ 4924985 h 6521594"/>
                <a:gd name="GluePoint15X" fmla="*/ 2393691 w 6321679"/>
                <a:gd name="GluePoint15Y" fmla="*/ 5846995 h 6521594"/>
                <a:gd name="GluePoint16X" fmla="*/ 3601805 w 6321679"/>
                <a:gd name="GluePoint16Y" fmla="*/ 6155876 h 6521594"/>
                <a:gd name="GluePoint17X" fmla="*/ 4378909 w 6321679"/>
                <a:gd name="GluePoint17Y" fmla="*/ 5959186 h 6521594"/>
                <a:gd name="GluePoint18X" fmla="*/ 5218129 w 6321679"/>
                <a:gd name="GluePoint18Y" fmla="*/ 5391271 h 6521594"/>
                <a:gd name="GluePoint19X" fmla="*/ 5425313 w 6321679"/>
                <a:gd name="GluePoint19Y" fmla="*/ 5233481 h 6521594"/>
                <a:gd name="GluePoint20X" fmla="*/ 6254366 w 6321679"/>
                <a:gd name="GluePoint20Y" fmla="*/ 4534301 h 6521594"/>
                <a:gd name="GluePoint21X" fmla="*/ 6321679 w 6321679"/>
                <a:gd name="GluePoint21Y" fmla="*/ 4456641 h 6521594"/>
                <a:gd name="GluePoint22X" fmla="*/ 6321679 w 6321679"/>
                <a:gd name="GluePoint22Y" fmla="*/ 5523097 h 6521594"/>
                <a:gd name="GluePoint23X" fmla="*/ 6024428 w 6321679"/>
                <a:gd name="GluePoint23Y" fmla="*/ 5754969 h 6521594"/>
                <a:gd name="GluePoint24X" fmla="*/ 5702345 w 6321679"/>
                <a:gd name="GluePoint24Y" fmla="*/ 6000018 h 6521594"/>
                <a:gd name="GluePoint25X" fmla="*/ 4988380 w 6321679"/>
                <a:gd name="GluePoint25Y" fmla="*/ 6506549 h 6521594"/>
                <a:gd name="GluePoint26X" fmla="*/ 4961490 w 6321679"/>
                <a:gd name="GluePoint26Y" fmla="*/ 6521594 h 6521594"/>
                <a:gd name="GluePoint27X" fmla="*/ 2011326 w 6321679"/>
                <a:gd name="GluePoint27Y" fmla="*/ 6521594 h 6521594"/>
                <a:gd name="GluePoint28X" fmla="*/ 1982893 w 6321679"/>
                <a:gd name="GluePoint28Y" fmla="*/ 6505768 h 6521594"/>
                <a:gd name="GluePoint29X" fmla="*/ 824149 w 6321679"/>
                <a:gd name="GluePoint29Y" fmla="*/ 5358682 h 6521594"/>
                <a:gd name="GluePoint30X" fmla="*/ 0 w 6321679"/>
                <a:gd name="GluePoint30Y" fmla="*/ 3630075 h 6521594"/>
                <a:gd name="GluePoint31X" fmla="*/ 4150102 w 6321679"/>
                <a:gd name="GluePoint31Y" fmla="*/ 0 h 65215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pic>
        <p:nvPicPr>
          <p:cNvPr id="73" name="Рисунок 17" descr="Изображение выглядит как текст, снимок экрана, диаграмма, дизайн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6019920" y="618480"/>
            <a:ext cx="5562360" cy="560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76600" y="741240"/>
            <a:ext cx="3455640" cy="16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Первый этап: Проектирование и дизайн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76600" y="2533320"/>
            <a:ext cx="3455640" cy="34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Разработка дизайн-системы и прототипов всех ключевых страниц (главная, поиск, карточка ПО) в Figma.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Создание пользовательских сценариев для обеспечения удобства навигации и поиска.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Утверждение финального макета перед началом разработки.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6" name="Рисунок 5" descr=""/>
          <p:cNvPicPr/>
          <p:nvPr/>
        </p:nvPicPr>
        <p:blipFill>
          <a:blip r:embed="rId1"/>
          <a:stretch/>
        </p:blipFill>
        <p:spPr>
          <a:xfrm>
            <a:off x="4332600" y="1363320"/>
            <a:ext cx="7735680" cy="3828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" name="Group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40" y="0"/>
            <a:ext cx="123120" cy="6857640"/>
            <a:chOff x="12068640" y="0"/>
            <a:chExt cx="123120" cy="6857640"/>
          </a:xfrm>
        </p:grpSpPr>
        <p:sp>
          <p:nvSpPr>
            <p:cNvPr id="78" name="Rectangl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0"/>
              <a:ext cx="123120" cy="6857640"/>
            </a:xfrm>
            <a:prstGeom prst="rect">
              <a:avLst/>
            </a:prstGeom>
            <a:gradFill rotWithShape="0">
              <a:gsLst>
                <a:gs pos="0">
                  <a:srgbClr val="e97132"/>
                </a:gs>
                <a:gs pos="100000">
                  <a:srgbClr val="a02b93"/>
                </a:gs>
              </a:gsLst>
              <a:lin ang="9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9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3527640"/>
              <a:ext cx="123120" cy="3330000"/>
            </a:xfrm>
            <a:prstGeom prst="rect">
              <a:avLst/>
            </a:prstGeom>
            <a:gradFill rotWithShape="0">
              <a:gsLst>
                <a:gs pos="19000">
                  <a:srgbClr val="d86ecc">
                    <a:alpha val="0"/>
                  </a:srgbClr>
                </a:gs>
                <a:gs pos="100000">
                  <a:srgbClr val="d86ecc"/>
                </a:gs>
              </a:gsLst>
              <a:lin ang="10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76600" y="741240"/>
            <a:ext cx="3455640" cy="16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Второй этап: Фронтенд-разработка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76600" y="2533320"/>
            <a:ext cx="3455640" cy="34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Написание семантической и адаптивной HTML-разметки.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Стилизация с использованием CSS для соответствия макету.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Реализация интерактивных элементов на JavaScript для динамического взаимодействия с пользователем.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2" name="Рисунок 5" descr=""/>
          <p:cNvPicPr/>
          <p:nvPr/>
        </p:nvPicPr>
        <p:blipFill>
          <a:blip r:embed="rId1"/>
          <a:stretch/>
        </p:blipFill>
        <p:spPr>
          <a:xfrm>
            <a:off x="4457880" y="1362600"/>
            <a:ext cx="7610400" cy="4132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3" name="Group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40" y="0"/>
            <a:ext cx="123120" cy="6857640"/>
            <a:chOff x="12068640" y="0"/>
            <a:chExt cx="123120" cy="6857640"/>
          </a:xfrm>
        </p:grpSpPr>
        <p:sp>
          <p:nvSpPr>
            <p:cNvPr id="84" name="Rectangl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0"/>
              <a:ext cx="123120" cy="6857640"/>
            </a:xfrm>
            <a:prstGeom prst="rect">
              <a:avLst/>
            </a:prstGeom>
            <a:gradFill rotWithShape="0">
              <a:gsLst>
                <a:gs pos="0">
                  <a:srgbClr val="e97132"/>
                </a:gs>
                <a:gs pos="100000">
                  <a:srgbClr val="a02b93"/>
                </a:gs>
              </a:gsLst>
              <a:lin ang="9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5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3527640"/>
              <a:ext cx="123120" cy="3330000"/>
            </a:xfrm>
            <a:prstGeom prst="rect">
              <a:avLst/>
            </a:prstGeom>
            <a:gradFill rotWithShape="0">
              <a:gsLst>
                <a:gs pos="19000">
                  <a:srgbClr val="d86ecc">
                    <a:alpha val="0"/>
                  </a:srgbClr>
                </a:gs>
                <a:gs pos="100000">
                  <a:srgbClr val="d86ecc"/>
                </a:gs>
              </a:gsLst>
              <a:lin ang="10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76600" y="741240"/>
            <a:ext cx="3455640" cy="16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Третий этап: Создание контентной базы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76600" y="2533320"/>
            <a:ext cx="3455640" cy="34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Поиск, верификация и структурирование информации о российском и иностранном ПО.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Заполнение базы данных по категориям: </a:t>
            </a: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Иностранное ПО -&gt; Российский аналог -&gt; Ключевые характеристики -&gt; Ссылки.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Постоянное обновление и пополнение базы для обеспечения актуальности информации.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1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8" name="Рисунок 6" descr=""/>
          <p:cNvPicPr/>
          <p:nvPr/>
        </p:nvPicPr>
        <p:blipFill>
          <a:blip r:embed="rId1"/>
          <a:srcRect l="0" t="0" r="2666" b="0"/>
          <a:stretch/>
        </p:blipFill>
        <p:spPr>
          <a:xfrm>
            <a:off x="4445640" y="1285200"/>
            <a:ext cx="7622640" cy="4287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9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40" y="0"/>
            <a:ext cx="123120" cy="6857640"/>
            <a:chOff x="12068640" y="0"/>
            <a:chExt cx="123120" cy="6857640"/>
          </a:xfrm>
        </p:grpSpPr>
        <p:sp>
          <p:nvSpPr>
            <p:cNvPr id="90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0"/>
              <a:ext cx="123120" cy="6857640"/>
            </a:xfrm>
            <a:prstGeom prst="rect">
              <a:avLst/>
            </a:prstGeom>
            <a:gradFill rotWithShape="0">
              <a:gsLst>
                <a:gs pos="0">
                  <a:srgbClr val="e97132"/>
                </a:gs>
                <a:gs pos="100000">
                  <a:srgbClr val="a02b93"/>
                </a:gs>
              </a:gsLst>
              <a:lin ang="9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1" name="Rect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3527640"/>
              <a:ext cx="123120" cy="3330000"/>
            </a:xfrm>
            <a:prstGeom prst="rect">
              <a:avLst/>
            </a:prstGeom>
            <a:gradFill rotWithShape="0">
              <a:gsLst>
                <a:gs pos="19000">
                  <a:srgbClr val="d86ecc">
                    <a:alpha val="0"/>
                  </a:srgbClr>
                </a:gs>
                <a:gs pos="100000">
                  <a:srgbClr val="d86ecc"/>
                </a:gs>
              </a:gsLst>
              <a:lin ang="10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76600" y="741240"/>
            <a:ext cx="3455640" cy="16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7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Четвертый этап: Бэкенд-разработка и интеграция</a:t>
            </a:r>
            <a:endParaRPr b="0" lang="ru-RU" sz="27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76600" y="2533320"/>
            <a:ext cx="3455640" cy="34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Разработка API для выполнения операций поиска.</a:t>
            </a:r>
            <a:endParaRPr b="0" lang="ru-RU" sz="19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Создание административной панели для удобного наполнения и редактирования базы данных.</a:t>
            </a:r>
            <a:endParaRPr b="0" lang="ru-RU" sz="19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Интеграция фронтенда с бэкендом и наполнение сайта готовым контентом.</a:t>
            </a:r>
            <a:endParaRPr b="0" lang="ru-RU" sz="19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4" name="Рисунок 5" descr=""/>
          <p:cNvPicPr/>
          <p:nvPr/>
        </p:nvPicPr>
        <p:blipFill>
          <a:blip r:embed="rId1"/>
          <a:stretch/>
        </p:blipFill>
        <p:spPr>
          <a:xfrm>
            <a:off x="4457880" y="1393200"/>
            <a:ext cx="7610400" cy="4071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5" name="Group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40" y="0"/>
            <a:ext cx="123120" cy="6857640"/>
            <a:chOff x="12068640" y="0"/>
            <a:chExt cx="123120" cy="6857640"/>
          </a:xfrm>
        </p:grpSpPr>
        <p:sp>
          <p:nvSpPr>
            <p:cNvPr id="96" name="Rectangl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0"/>
              <a:ext cx="123120" cy="6857640"/>
            </a:xfrm>
            <a:prstGeom prst="rect">
              <a:avLst/>
            </a:prstGeom>
            <a:gradFill rotWithShape="0">
              <a:gsLst>
                <a:gs pos="0">
                  <a:srgbClr val="e97132"/>
                </a:gs>
                <a:gs pos="100000">
                  <a:srgbClr val="a02b93"/>
                </a:gs>
              </a:gsLst>
              <a:lin ang="9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7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2068640" y="3527640"/>
              <a:ext cx="123120" cy="3330000"/>
            </a:xfrm>
            <a:prstGeom prst="rect">
              <a:avLst/>
            </a:prstGeom>
            <a:gradFill rotWithShape="0">
              <a:gsLst>
                <a:gs pos="19000">
                  <a:srgbClr val="d86ecc">
                    <a:alpha val="0"/>
                  </a:srgbClr>
                </a:gs>
                <a:gs pos="100000">
                  <a:srgbClr val="d86ecc"/>
                </a:gs>
              </a:gsLst>
              <a:lin ang="10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475640" y="98748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6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Пятый этап: Тестирование и запуск</a:t>
            </a:r>
            <a:endParaRPr b="0" lang="ru-RU" sz="3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355360" y="950760"/>
            <a:ext cx="5360760" cy="32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Всестороннее тестирование функционала: поиск, отображение данных.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Проверка корректности отображения на разных устройствах и в разных браузерах.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Исправление выявленных ошибок и развертывание (деплой) проекта на хостинге.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0" name="Рисунок 5" descr=""/>
          <p:cNvPicPr/>
          <p:nvPr/>
        </p:nvPicPr>
        <p:blipFill>
          <a:blip r:embed="rId1"/>
          <a:stretch/>
        </p:blipFill>
        <p:spPr>
          <a:xfrm>
            <a:off x="865080" y="3218760"/>
            <a:ext cx="10461240" cy="307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43000" y="118800"/>
            <a:ext cx="9905760" cy="9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Видео работы сайта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23880" y="1314360"/>
            <a:ext cx="10944000" cy="49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10512000" cy="61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36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Выводы и дальнейшее развитие</a:t>
            </a:r>
            <a:endParaRPr b="0" lang="ru-RU" sz="3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9880" y="2208960"/>
            <a:ext cx="1051200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Таким образом, был разработан полнофункциональный сайт, который решает конкретную проблему выбора российского ПО.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Дальнейшее развитие: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Добавление системы пользовательских отзывов и рейтингов.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Внедрение сравнения нескольких аналогов между собой в одной таблице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Добавление системы обратной связи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LibreOffice/25.2.6.2$Windows_X86_64 LibreOffice_project/729c5bfe710f5eb71ed3bbde9e06a6065e9c6c5d</Application>
  <AppVersion>15.0000</AppVersion>
  <Words>479</Words>
  <Paragraphs>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2025-10-31T16:17:47Z</dcterms:created>
  <dc:creator>Михаил Щербин</dc:creator>
  <dc:description/>
  <dc:language>ru-RU</dc:language>
  <cp:lastModifiedBy/>
  <dcterms:modified xsi:type="dcterms:W3CDTF">2025-11-08T18:23:58Z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11</vt:i4>
  </property>
</Properties>
</file>